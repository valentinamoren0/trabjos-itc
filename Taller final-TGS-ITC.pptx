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F68C9-4F09-4DC6-AB09-8F2EF6759C30}" type="datetimeFigureOut">
              <a:rPr lang="es-CO" smtClean="0"/>
              <a:t>3/05/2021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2A5D-7E7D-4CBF-99DD-ED660B37F7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4034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F68C9-4F09-4DC6-AB09-8F2EF6759C30}" type="datetimeFigureOut">
              <a:rPr lang="es-CO" smtClean="0"/>
              <a:t>3/05/2021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2A5D-7E7D-4CBF-99DD-ED660B37F7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3851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F68C9-4F09-4DC6-AB09-8F2EF6759C30}" type="datetimeFigureOut">
              <a:rPr lang="es-CO" smtClean="0"/>
              <a:t>3/05/2021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2A5D-7E7D-4CBF-99DD-ED660B37F7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8473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F68C9-4F09-4DC6-AB09-8F2EF6759C30}" type="datetimeFigureOut">
              <a:rPr lang="es-CO" smtClean="0"/>
              <a:t>3/05/2021</a:t>
            </a:fld>
            <a:endParaRPr lang="es-C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2A5D-7E7D-4CBF-99DD-ED660B37F7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846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F68C9-4F09-4DC6-AB09-8F2EF6759C30}" type="datetimeFigureOut">
              <a:rPr lang="es-CO" smtClean="0"/>
              <a:t>3/05/2021</a:t>
            </a:fld>
            <a:endParaRPr lang="es-CO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2A5D-7E7D-4CBF-99DD-ED660B37F7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3870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F68C9-4F09-4DC6-AB09-8F2EF6759C30}" type="datetimeFigureOut">
              <a:rPr lang="es-CO" smtClean="0"/>
              <a:t>3/05/2021</a:t>
            </a:fld>
            <a:endParaRPr lang="es-C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2A5D-7E7D-4CBF-99DD-ED660B37F7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8659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F68C9-4F09-4DC6-AB09-8F2EF6759C30}" type="datetimeFigureOut">
              <a:rPr lang="es-CO" smtClean="0"/>
              <a:t>3/05/2021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2A5D-7E7D-4CBF-99DD-ED660B37F7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83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F68C9-4F09-4DC6-AB09-8F2EF6759C30}" type="datetimeFigureOut">
              <a:rPr lang="es-CO" smtClean="0"/>
              <a:t>3/05/2021</a:t>
            </a:fld>
            <a:endParaRPr lang="es-C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2A5D-7E7D-4CBF-99DD-ED660B37F7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7167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F68C9-4F09-4DC6-AB09-8F2EF6759C30}" type="datetimeFigureOut">
              <a:rPr lang="es-CO" smtClean="0"/>
              <a:t>3/05/2021</a:t>
            </a:fld>
            <a:endParaRPr lang="es-C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s-CO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2A5D-7E7D-4CBF-99DD-ED660B37F7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903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F68C9-4F09-4DC6-AB09-8F2EF6759C30}" type="datetimeFigureOut">
              <a:rPr lang="es-CO" smtClean="0"/>
              <a:t>3/05/2021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2A5D-7E7D-4CBF-99DD-ED660B37F7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193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F68C9-4F09-4DC6-AB09-8F2EF6759C30}" type="datetimeFigureOut">
              <a:rPr lang="es-CO" smtClean="0"/>
              <a:t>3/05/2021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B2A5D-7E7D-4CBF-99DD-ED660B37F7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1731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06F68C9-4F09-4DC6-AB09-8F2EF6759C30}" type="datetimeFigureOut">
              <a:rPr lang="es-CO" smtClean="0"/>
              <a:t>3/05/2021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B1BB2A5D-7E7D-4CBF-99DD-ED660B37F76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1042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colsof.com.co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78432-5E71-4421-A275-C0FDECF8A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Taller final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F138A-15BF-41E5-AD3C-C407AE274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1074" y="4670246"/>
            <a:ext cx="7441557" cy="676306"/>
          </a:xfrm>
        </p:spPr>
        <p:txBody>
          <a:bodyPr/>
          <a:lstStyle/>
          <a:p>
            <a:r>
              <a:rPr lang="es-CO" dirty="0"/>
              <a:t>Diana Valentina Moreno Peña/ ITC – Teoría general de sistemas</a:t>
            </a:r>
          </a:p>
        </p:txBody>
      </p:sp>
      <p:pic>
        <p:nvPicPr>
          <p:cNvPr id="2052" name="Picture 4" descr="Nuestros colegios y universidades - Distrito Lasallista de Bogotá">
            <a:extLst>
              <a:ext uri="{FF2B5EF4-FFF2-40B4-BE49-F238E27FC236}">
                <a16:creationId xmlns:a16="http://schemas.microsoft.com/office/drawing/2014/main" id="{3F863558-1B73-445A-BD92-40DAF488E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1456" y="1164771"/>
            <a:ext cx="2558143" cy="2558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12C7A7-9C5D-4334-9BB3-1C43444FBBB1}"/>
              </a:ext>
            </a:extLst>
          </p:cNvPr>
          <p:cNvSpPr txBox="1"/>
          <p:nvPr/>
        </p:nvSpPr>
        <p:spPr>
          <a:xfrm>
            <a:off x="9252744" y="4184380"/>
            <a:ext cx="3015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dirty="0"/>
              <a:t>Donde hay trabajo, hay virtud</a:t>
            </a:r>
          </a:p>
        </p:txBody>
      </p:sp>
    </p:spTree>
    <p:extLst>
      <p:ext uri="{BB962C8B-B14F-4D97-AF65-F5344CB8AC3E}">
        <p14:creationId xmlns:p14="http://schemas.microsoft.com/office/powerpoint/2010/main" val="170794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4F52D-3A72-4F08-BC49-115B4D78F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¿Cómo funciona la empresa?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0D524-4985-42DE-B5F9-B17882245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3510" y="2216075"/>
            <a:ext cx="7300957" cy="3768673"/>
          </a:xfrm>
        </p:spPr>
        <p:txBody>
          <a:bodyPr/>
          <a:lstStyle/>
          <a:p>
            <a:r>
              <a:rPr lang="es-CO" dirty="0"/>
              <a:t>Es una empresa orientada a sistemas de software contable, bases de datos y referencias de clientes.</a:t>
            </a:r>
          </a:p>
          <a:p>
            <a:r>
              <a:rPr lang="es-CO" dirty="0"/>
              <a:t>Sus servicios son facturación electrónica, impresión electrónica, soporte, instalación y mantenimiento, garantías de uso y remplazo de equipos.</a:t>
            </a:r>
          </a:p>
          <a:p>
            <a:r>
              <a:rPr lang="es-CO" dirty="0"/>
              <a:t>Unos de sus principales clientes en la EPS Cafam en la cual con su base de datos guarda información de los usuarios e historia clínica.</a:t>
            </a:r>
          </a:p>
        </p:txBody>
      </p:sp>
      <p:pic>
        <p:nvPicPr>
          <p:cNvPr id="1026" name="Picture 2" descr="Inicio">
            <a:extLst>
              <a:ext uri="{FF2B5EF4-FFF2-40B4-BE49-F238E27FC236}">
                <a16:creationId xmlns:a16="http://schemas.microsoft.com/office/drawing/2014/main" id="{5AD072EB-D730-43E8-8C2E-CDA1F048C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850" y="496735"/>
            <a:ext cx="60102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08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6140-5424-4C09-8D04-B4639EEF4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organigrama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6F8169-DF72-4A82-B863-6F61320521E0}"/>
              </a:ext>
            </a:extLst>
          </p:cNvPr>
          <p:cNvSpPr/>
          <p:nvPr/>
        </p:nvSpPr>
        <p:spPr>
          <a:xfrm>
            <a:off x="7089290" y="155649"/>
            <a:ext cx="1344705" cy="7157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Gerencia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023F24-695F-4307-A854-070E69350915}"/>
              </a:ext>
            </a:extLst>
          </p:cNvPr>
          <p:cNvSpPr/>
          <p:nvPr/>
        </p:nvSpPr>
        <p:spPr>
          <a:xfrm>
            <a:off x="3885305" y="1123837"/>
            <a:ext cx="1848521" cy="63862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Soporte técnico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9F6F96-6B2D-4D93-A7CC-E482EC88DCF0}"/>
              </a:ext>
            </a:extLst>
          </p:cNvPr>
          <p:cNvSpPr/>
          <p:nvPr/>
        </p:nvSpPr>
        <p:spPr>
          <a:xfrm>
            <a:off x="3952103" y="2279164"/>
            <a:ext cx="1714924" cy="149531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Prevención:</a:t>
            </a:r>
          </a:p>
          <a:p>
            <a:pPr algn="ctr"/>
            <a:r>
              <a:rPr lang="es-CO" dirty="0"/>
              <a:t>Copias de seguridad y recuperación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F88A19A-09AF-448B-B050-77A51AA5D19C}"/>
              </a:ext>
            </a:extLst>
          </p:cNvPr>
          <p:cNvCxnSpPr>
            <a:cxnSpLocks/>
          </p:cNvCxnSpPr>
          <p:nvPr/>
        </p:nvCxnSpPr>
        <p:spPr>
          <a:xfrm>
            <a:off x="4787153" y="1762460"/>
            <a:ext cx="0" cy="6257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195CAE5-FE76-48BE-AD5C-020AC6E61350}"/>
              </a:ext>
            </a:extLst>
          </p:cNvPr>
          <p:cNvCxnSpPr>
            <a:stCxn id="7" idx="1"/>
            <a:endCxn id="8" idx="0"/>
          </p:cNvCxnSpPr>
          <p:nvPr/>
        </p:nvCxnSpPr>
        <p:spPr>
          <a:xfrm rot="10800000" flipV="1">
            <a:off x="4809566" y="513509"/>
            <a:ext cx="2279724" cy="610328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52E4615-02C1-4B71-AB7A-29B7265061AB}"/>
              </a:ext>
            </a:extLst>
          </p:cNvPr>
          <p:cNvSpPr/>
          <p:nvPr/>
        </p:nvSpPr>
        <p:spPr>
          <a:xfrm>
            <a:off x="3842611" y="4407554"/>
            <a:ext cx="1933910" cy="132660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Garantía de remplazo de equipos en caso de una falla mayor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43CE370-9FC8-43C7-AA9F-CCE64C653581}"/>
              </a:ext>
            </a:extLst>
          </p:cNvPr>
          <p:cNvCxnSpPr>
            <a:cxnSpLocks/>
            <a:stCxn id="9" idx="2"/>
            <a:endCxn id="25" idx="0"/>
          </p:cNvCxnSpPr>
          <p:nvPr/>
        </p:nvCxnSpPr>
        <p:spPr>
          <a:xfrm>
            <a:off x="4809565" y="3774478"/>
            <a:ext cx="1" cy="6330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089B196-7401-423F-804C-BA3049015413}"/>
              </a:ext>
            </a:extLst>
          </p:cNvPr>
          <p:cNvSpPr/>
          <p:nvPr/>
        </p:nvSpPr>
        <p:spPr>
          <a:xfrm>
            <a:off x="6941788" y="1176533"/>
            <a:ext cx="1639684" cy="6103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Servicios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6FAE865-0686-4115-9D00-41EB414C8226}"/>
              </a:ext>
            </a:extLst>
          </p:cNvPr>
          <p:cNvSpPr/>
          <p:nvPr/>
        </p:nvSpPr>
        <p:spPr>
          <a:xfrm>
            <a:off x="6904170" y="2543694"/>
            <a:ext cx="1714916" cy="100380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Facturación electrónica e impresión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6115C0A-D823-4454-BD9E-B2F24A85D649}"/>
              </a:ext>
            </a:extLst>
          </p:cNvPr>
          <p:cNvCxnSpPr>
            <a:stCxn id="7" idx="2"/>
            <a:endCxn id="28" idx="0"/>
          </p:cNvCxnSpPr>
          <p:nvPr/>
        </p:nvCxnSpPr>
        <p:spPr>
          <a:xfrm flipH="1">
            <a:off x="7761630" y="871369"/>
            <a:ext cx="13" cy="30516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BA3C8DB-E3A1-4D0F-9C53-CE693D7C8D30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flipH="1">
            <a:off x="7761628" y="1786862"/>
            <a:ext cx="2" cy="7568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2D40371-4EC4-497D-9D59-CEE8C57E268F}"/>
              </a:ext>
            </a:extLst>
          </p:cNvPr>
          <p:cNvSpPr/>
          <p:nvPr/>
        </p:nvSpPr>
        <p:spPr>
          <a:xfrm>
            <a:off x="6904170" y="4146722"/>
            <a:ext cx="1714922" cy="158744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Cloud almacena la información suministrada del negocio en bases de datos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4E07226-9671-42AF-9115-B754A73F325A}"/>
              </a:ext>
            </a:extLst>
          </p:cNvPr>
          <p:cNvCxnSpPr>
            <a:cxnSpLocks/>
            <a:stCxn id="29" idx="2"/>
            <a:endCxn id="40" idx="0"/>
          </p:cNvCxnSpPr>
          <p:nvPr/>
        </p:nvCxnSpPr>
        <p:spPr>
          <a:xfrm>
            <a:off x="7761628" y="3547502"/>
            <a:ext cx="3" cy="5992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6100860-76A8-4B9B-88CD-997D732D0FED}"/>
              </a:ext>
            </a:extLst>
          </p:cNvPr>
          <p:cNvSpPr/>
          <p:nvPr/>
        </p:nvSpPr>
        <p:spPr>
          <a:xfrm>
            <a:off x="9789434" y="1025574"/>
            <a:ext cx="1639684" cy="61032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análisis 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7B6D34D3-0C57-44D8-B87C-D640B23015CF}"/>
              </a:ext>
            </a:extLst>
          </p:cNvPr>
          <p:cNvCxnSpPr>
            <a:stCxn id="7" idx="3"/>
            <a:endCxn id="50" idx="0"/>
          </p:cNvCxnSpPr>
          <p:nvPr/>
        </p:nvCxnSpPr>
        <p:spPr>
          <a:xfrm>
            <a:off x="8433995" y="513509"/>
            <a:ext cx="2175281" cy="512065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ABBE355E-E851-43BD-9424-F040738016CE}"/>
              </a:ext>
            </a:extLst>
          </p:cNvPr>
          <p:cNvSpPr/>
          <p:nvPr/>
        </p:nvSpPr>
        <p:spPr>
          <a:xfrm>
            <a:off x="9751825" y="2388198"/>
            <a:ext cx="1714901" cy="175852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entorno de aplicaciones y virtualiza las opciones de modernización 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87A88D0-D728-4F74-A0C1-A9A5063345B1}"/>
              </a:ext>
            </a:extLst>
          </p:cNvPr>
          <p:cNvCxnSpPr>
            <a:cxnSpLocks/>
            <a:stCxn id="50" idx="2"/>
            <a:endCxn id="54" idx="0"/>
          </p:cNvCxnSpPr>
          <p:nvPr/>
        </p:nvCxnSpPr>
        <p:spPr>
          <a:xfrm>
            <a:off x="10609276" y="1635903"/>
            <a:ext cx="0" cy="7522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B7DA983-52F6-4847-8161-AECC153B723C}"/>
              </a:ext>
            </a:extLst>
          </p:cNvPr>
          <p:cNvSpPr/>
          <p:nvPr/>
        </p:nvSpPr>
        <p:spPr>
          <a:xfrm>
            <a:off x="9789434" y="4611013"/>
            <a:ext cx="1639582" cy="160302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personal, procesos y posibles aplicaciones tecnológicas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AE9CDC5-AC5A-4CC1-BCFB-43F0565C911A}"/>
              </a:ext>
            </a:extLst>
          </p:cNvPr>
          <p:cNvCxnSpPr>
            <a:stCxn id="54" idx="2"/>
            <a:endCxn id="23" idx="0"/>
          </p:cNvCxnSpPr>
          <p:nvPr/>
        </p:nvCxnSpPr>
        <p:spPr>
          <a:xfrm flipH="1">
            <a:off x="10609225" y="4146722"/>
            <a:ext cx="51" cy="46429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19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6E51-238B-4FD4-99E3-18642DD06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Diagrama de la organización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9BD7BD-965C-4F69-8B74-BD97F098DDCB}"/>
              </a:ext>
            </a:extLst>
          </p:cNvPr>
          <p:cNvSpPr/>
          <p:nvPr/>
        </p:nvSpPr>
        <p:spPr>
          <a:xfrm>
            <a:off x="6540649" y="622004"/>
            <a:ext cx="1839558" cy="570156"/>
          </a:xfrm>
          <a:prstGeom prst="rect">
            <a:avLst/>
          </a:prstGeom>
          <a:solidFill>
            <a:schemeClr val="bg2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Entradas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FC6BAC-4DBC-4902-A751-A7AA5CCEC15F}"/>
              </a:ext>
            </a:extLst>
          </p:cNvPr>
          <p:cNvSpPr/>
          <p:nvPr/>
        </p:nvSpPr>
        <p:spPr>
          <a:xfrm>
            <a:off x="6540649" y="5358782"/>
            <a:ext cx="1839558" cy="570156"/>
          </a:xfrm>
          <a:prstGeom prst="rect">
            <a:avLst/>
          </a:prstGeom>
          <a:solidFill>
            <a:schemeClr val="bg2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Salida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35D8F9-5383-4FC9-BFD1-1D8229CC526D}"/>
              </a:ext>
            </a:extLst>
          </p:cNvPr>
          <p:cNvSpPr/>
          <p:nvPr/>
        </p:nvSpPr>
        <p:spPr>
          <a:xfrm>
            <a:off x="5158290" y="1596037"/>
            <a:ext cx="1839558" cy="570156"/>
          </a:xfrm>
          <a:prstGeom prst="rect">
            <a:avLst/>
          </a:prstGeom>
          <a:solidFill>
            <a:schemeClr val="bg2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Atención al  cliente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2485C7-9F1D-4CBB-BF2B-6D924B89BED3}"/>
              </a:ext>
            </a:extLst>
          </p:cNvPr>
          <p:cNvSpPr/>
          <p:nvPr/>
        </p:nvSpPr>
        <p:spPr>
          <a:xfrm>
            <a:off x="8071820" y="1597975"/>
            <a:ext cx="1839558" cy="570156"/>
          </a:xfrm>
          <a:prstGeom prst="rect">
            <a:avLst/>
          </a:prstGeom>
          <a:solidFill>
            <a:schemeClr val="bg2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Cotización de producto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85E9FD-A8FF-4349-870F-47F75C51260D}"/>
              </a:ext>
            </a:extLst>
          </p:cNvPr>
          <p:cNvSpPr/>
          <p:nvPr/>
        </p:nvSpPr>
        <p:spPr>
          <a:xfrm>
            <a:off x="6234952" y="3946176"/>
            <a:ext cx="2450952" cy="570156"/>
          </a:xfrm>
          <a:prstGeom prst="rect">
            <a:avLst/>
          </a:prstGeom>
          <a:solidFill>
            <a:schemeClr val="bg2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Analítica del manejo del producto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61AC4F-0B72-4F14-8B1F-17451C9E2A64}"/>
              </a:ext>
            </a:extLst>
          </p:cNvPr>
          <p:cNvSpPr/>
          <p:nvPr/>
        </p:nvSpPr>
        <p:spPr>
          <a:xfrm>
            <a:off x="4036807" y="2883673"/>
            <a:ext cx="1839558" cy="570156"/>
          </a:xfrm>
          <a:prstGeom prst="rect">
            <a:avLst/>
          </a:prstGeom>
          <a:solidFill>
            <a:schemeClr val="bg2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Entrega del producto digital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A20EE8-B17E-4847-87C8-6629EE61A46D}"/>
              </a:ext>
            </a:extLst>
          </p:cNvPr>
          <p:cNvSpPr/>
          <p:nvPr/>
        </p:nvSpPr>
        <p:spPr>
          <a:xfrm>
            <a:off x="9110830" y="2883673"/>
            <a:ext cx="1839558" cy="570156"/>
          </a:xfrm>
          <a:prstGeom prst="rect">
            <a:avLst/>
          </a:prstGeom>
          <a:solidFill>
            <a:schemeClr val="bg2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Instalación del producto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B43A4F94-752D-4DE8-9575-C4FFE19B5E90}"/>
              </a:ext>
            </a:extLst>
          </p:cNvPr>
          <p:cNvCxnSpPr>
            <a:stCxn id="4" idx="1"/>
            <a:endCxn id="6" idx="0"/>
          </p:cNvCxnSpPr>
          <p:nvPr/>
        </p:nvCxnSpPr>
        <p:spPr>
          <a:xfrm rot="10800000" flipV="1">
            <a:off x="6078069" y="907081"/>
            <a:ext cx="462580" cy="688955"/>
          </a:xfrm>
          <a:prstGeom prst="bentConnector2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A8A189F-35CA-4F73-84B2-80958F5606A1}"/>
              </a:ext>
            </a:extLst>
          </p:cNvPr>
          <p:cNvCxnSpPr>
            <a:stCxn id="4" idx="3"/>
            <a:endCxn id="7" idx="0"/>
          </p:cNvCxnSpPr>
          <p:nvPr/>
        </p:nvCxnSpPr>
        <p:spPr>
          <a:xfrm>
            <a:off x="8380207" y="907082"/>
            <a:ext cx="611392" cy="69089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D99D4CAD-29C6-466D-AF48-6D606CCFC297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9153333" y="2006397"/>
            <a:ext cx="715542" cy="103901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53AD562-3B03-4EF6-BEC8-92B0211868A0}"/>
              </a:ext>
            </a:extLst>
          </p:cNvPr>
          <p:cNvCxnSpPr>
            <a:stCxn id="6" idx="2"/>
            <a:endCxn id="9" idx="0"/>
          </p:cNvCxnSpPr>
          <p:nvPr/>
        </p:nvCxnSpPr>
        <p:spPr>
          <a:xfrm rot="5400000">
            <a:off x="5158588" y="1964192"/>
            <a:ext cx="717480" cy="112148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896F2A7F-B2B6-439D-8440-0C5672EDCCC3}"/>
              </a:ext>
            </a:extLst>
          </p:cNvPr>
          <p:cNvCxnSpPr>
            <a:stCxn id="10" idx="2"/>
            <a:endCxn id="8" idx="0"/>
          </p:cNvCxnSpPr>
          <p:nvPr/>
        </p:nvCxnSpPr>
        <p:spPr>
          <a:xfrm rot="5400000">
            <a:off x="8499346" y="2414912"/>
            <a:ext cx="492347" cy="257018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9F98AC3E-4312-4427-96FA-688052C84F89}"/>
              </a:ext>
            </a:extLst>
          </p:cNvPr>
          <p:cNvCxnSpPr>
            <a:stCxn id="9" idx="2"/>
            <a:endCxn id="8" idx="0"/>
          </p:cNvCxnSpPr>
          <p:nvPr/>
        </p:nvCxnSpPr>
        <p:spPr>
          <a:xfrm rot="16200000" flipH="1">
            <a:off x="5962334" y="2448081"/>
            <a:ext cx="492347" cy="2503842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E22FCEA-A846-4B5C-8AFD-D43504E07EBC}"/>
              </a:ext>
            </a:extLst>
          </p:cNvPr>
          <p:cNvCxnSpPr>
            <a:stCxn id="8" idx="2"/>
            <a:endCxn id="5" idx="0"/>
          </p:cNvCxnSpPr>
          <p:nvPr/>
        </p:nvCxnSpPr>
        <p:spPr>
          <a:xfrm>
            <a:off x="7460428" y="4516332"/>
            <a:ext cx="0" cy="8424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968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F8A0-E0B5-428F-BD8F-B2AC64E5F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Diagrama de subsistemas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A23263-6533-4975-A07C-C1A6BE110E1C}"/>
              </a:ext>
            </a:extLst>
          </p:cNvPr>
          <p:cNvSpPr/>
          <p:nvPr/>
        </p:nvSpPr>
        <p:spPr>
          <a:xfrm>
            <a:off x="6702015" y="171784"/>
            <a:ext cx="1839558" cy="570156"/>
          </a:xfrm>
          <a:prstGeom prst="rect">
            <a:avLst/>
          </a:prstGeom>
          <a:solidFill>
            <a:schemeClr val="bg2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Subsistemas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170D9B-430F-4442-9E24-4B6937B4F6EC}"/>
              </a:ext>
            </a:extLst>
          </p:cNvPr>
          <p:cNvSpPr/>
          <p:nvPr/>
        </p:nvSpPr>
        <p:spPr>
          <a:xfrm>
            <a:off x="3800463" y="1123837"/>
            <a:ext cx="1839558" cy="570156"/>
          </a:xfrm>
          <a:prstGeom prst="rect">
            <a:avLst/>
          </a:prstGeom>
          <a:solidFill>
            <a:schemeClr val="bg2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Outsourcing de impresión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6B3AAC-69A3-4075-82FC-3EDB181BB94F}"/>
              </a:ext>
            </a:extLst>
          </p:cNvPr>
          <p:cNvSpPr/>
          <p:nvPr/>
        </p:nvSpPr>
        <p:spPr>
          <a:xfrm>
            <a:off x="3800463" y="2117237"/>
            <a:ext cx="1839558" cy="2686160"/>
          </a:xfrm>
          <a:prstGeom prst="rect">
            <a:avLst/>
          </a:prstGeom>
          <a:solidFill>
            <a:schemeClr val="bg2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Es un sistema de impresión, organización y manejo de documentos el cual facilita la administración de datos 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35B2AAC-54AF-47B7-BF09-6BDE943E3E03}"/>
              </a:ext>
            </a:extLst>
          </p:cNvPr>
          <p:cNvCxnSpPr>
            <a:cxnSpLocks/>
            <a:stCxn id="4" idx="1"/>
            <a:endCxn id="5" idx="0"/>
          </p:cNvCxnSpPr>
          <p:nvPr/>
        </p:nvCxnSpPr>
        <p:spPr>
          <a:xfrm rot="10800000" flipV="1">
            <a:off x="4720243" y="456861"/>
            <a:ext cx="1981773" cy="666975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8FAFB3-CE32-43DC-9649-40B492A82162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720242" y="1693993"/>
            <a:ext cx="0" cy="4232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22B0D18-DF5E-4F3E-ADC5-24CD42640560}"/>
              </a:ext>
            </a:extLst>
          </p:cNvPr>
          <p:cNvSpPr/>
          <p:nvPr/>
        </p:nvSpPr>
        <p:spPr>
          <a:xfrm>
            <a:off x="9461352" y="1123836"/>
            <a:ext cx="1839558" cy="570156"/>
          </a:xfrm>
          <a:prstGeom prst="rect">
            <a:avLst/>
          </a:prstGeom>
          <a:solidFill>
            <a:schemeClr val="bg2"/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Consultoría en seguridad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F94996-B855-46A5-B277-9CF7FA7A8C0A}"/>
              </a:ext>
            </a:extLst>
          </p:cNvPr>
          <p:cNvSpPr/>
          <p:nvPr/>
        </p:nvSpPr>
        <p:spPr>
          <a:xfrm>
            <a:off x="6702015" y="1115768"/>
            <a:ext cx="1839558" cy="57015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Administrativos de data center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E1EDA7-2584-4B77-B098-C367FC20F9CF}"/>
              </a:ext>
            </a:extLst>
          </p:cNvPr>
          <p:cNvSpPr/>
          <p:nvPr/>
        </p:nvSpPr>
        <p:spPr>
          <a:xfrm>
            <a:off x="9332056" y="2117237"/>
            <a:ext cx="2098150" cy="282848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Previene el robo de la información definiendo esquemas de seguridad usando un mecanismo propio para aumentar la protección de los datos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E3C6271-CC6E-48F4-A92C-819EA16E20D5}"/>
              </a:ext>
            </a:extLst>
          </p:cNvPr>
          <p:cNvCxnSpPr>
            <a:stCxn id="12" idx="2"/>
            <a:endCxn id="15" idx="0"/>
          </p:cNvCxnSpPr>
          <p:nvPr/>
        </p:nvCxnSpPr>
        <p:spPr>
          <a:xfrm>
            <a:off x="10381131" y="1693992"/>
            <a:ext cx="0" cy="4232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40B42DBD-717E-401F-B584-63E9DEF472D7}"/>
              </a:ext>
            </a:extLst>
          </p:cNvPr>
          <p:cNvSpPr/>
          <p:nvPr/>
        </p:nvSpPr>
        <p:spPr>
          <a:xfrm>
            <a:off x="6319137" y="2048657"/>
            <a:ext cx="2605313" cy="314694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Cuenta con un control y gestión adecuado a las necesidades del cliente, monitoreo seguridad y respaldo de la información, el servidor de bases de datos instala y actualiza para asegurar el funcionamiento bajo las normas de la ley ISO 9001 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821D3BA5-CF86-40C5-845A-34C0832F55CA}"/>
              </a:ext>
            </a:extLst>
          </p:cNvPr>
          <p:cNvCxnSpPr>
            <a:stCxn id="4" idx="3"/>
            <a:endCxn id="12" idx="0"/>
          </p:cNvCxnSpPr>
          <p:nvPr/>
        </p:nvCxnSpPr>
        <p:spPr>
          <a:xfrm>
            <a:off x="8541573" y="456862"/>
            <a:ext cx="1839558" cy="666974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AD06463-0563-4F0C-871D-DDA1E8D3EF25}"/>
              </a:ext>
            </a:extLst>
          </p:cNvPr>
          <p:cNvCxnSpPr>
            <a:stCxn id="4" idx="2"/>
            <a:endCxn id="14" idx="0"/>
          </p:cNvCxnSpPr>
          <p:nvPr/>
        </p:nvCxnSpPr>
        <p:spPr>
          <a:xfrm>
            <a:off x="7621794" y="741940"/>
            <a:ext cx="0" cy="3738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1AD050C-ED61-45DE-8B66-75358F0A4397}"/>
              </a:ext>
            </a:extLst>
          </p:cNvPr>
          <p:cNvCxnSpPr>
            <a:stCxn id="14" idx="2"/>
            <a:endCxn id="35" idx="0"/>
          </p:cNvCxnSpPr>
          <p:nvPr/>
        </p:nvCxnSpPr>
        <p:spPr>
          <a:xfrm>
            <a:off x="7621794" y="1685924"/>
            <a:ext cx="0" cy="3627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2357233-EE20-4572-8A49-714B476CEA30}"/>
              </a:ext>
            </a:extLst>
          </p:cNvPr>
          <p:cNvCxnSpPr>
            <a:stCxn id="5" idx="3"/>
            <a:endCxn id="14" idx="1"/>
          </p:cNvCxnSpPr>
          <p:nvPr/>
        </p:nvCxnSpPr>
        <p:spPr>
          <a:xfrm flipV="1">
            <a:off x="5640021" y="1400846"/>
            <a:ext cx="1061994" cy="806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A07B5E2-F6FB-420B-BDA6-AD80268D5E5B}"/>
              </a:ext>
            </a:extLst>
          </p:cNvPr>
          <p:cNvCxnSpPr>
            <a:stCxn id="14" idx="3"/>
            <a:endCxn id="12" idx="1"/>
          </p:cNvCxnSpPr>
          <p:nvPr/>
        </p:nvCxnSpPr>
        <p:spPr>
          <a:xfrm>
            <a:off x="8541573" y="1400846"/>
            <a:ext cx="919779" cy="806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208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F51B8-6A47-40FD-9C9F-04B02AD37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Relación hombre- maquinas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695D1-0E0C-4CF7-8075-E124ED027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En esta empresa se relaciona a través de maquinas desde el momento de la consulta hasta la contratación de sus servicios y en el momento de la cancelación ya que todo funciona con bases de datos y chats de bots.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dirty="0"/>
              <a:t>Se podrá aplicar en el soporte técnico para encontrar las fallas del sistema al igual que para mejorar la seguridad de los datos.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dirty="0"/>
              <a:t>Ya la aplica en sus servicios 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dirty="0"/>
              <a:t>El mal uso de sus bases de datos puede vulnerar la información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21519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E3AD2-A526-4DF7-9F5C-D423D5227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Características principales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CAF04-98DA-4D8B-AFD7-AAA076A30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CO" dirty="0"/>
              <a:t>La atención al cliente: ya que con esta se brinda asesoría a los nuevos usuarios o soporte técnico.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dirty="0"/>
              <a:t>Bases de datos: es de donde se analiza el cobro a los usuarios y se les brinda un respaldo de su información en caso de perdida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dirty="0"/>
              <a:t>Consultoría de IT en esta empresa se brindan consultas de procesos administrativos y seguridad de datos. </a:t>
            </a:r>
          </a:p>
        </p:txBody>
      </p:sp>
    </p:spTree>
    <p:extLst>
      <p:ext uri="{BB962C8B-B14F-4D97-AF65-F5344CB8AC3E}">
        <p14:creationId xmlns:p14="http://schemas.microsoft.com/office/powerpoint/2010/main" val="3031150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8676-A71F-4D11-8AAC-FE838ABF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Bibliografía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21EBD-4ECC-406E-9176-676B4B036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>
                <a:hlinkClick r:id="rId2"/>
              </a:rPr>
              <a:t>https://www.colsof.com.co/</a:t>
            </a:r>
            <a:endParaRPr lang="es-CO" dirty="0"/>
          </a:p>
          <a:p>
            <a:endParaRPr lang="es-CO" dirty="0"/>
          </a:p>
        </p:txBody>
      </p:sp>
      <p:pic>
        <p:nvPicPr>
          <p:cNvPr id="4" name="Picture 2" descr="Inicio">
            <a:extLst>
              <a:ext uri="{FF2B5EF4-FFF2-40B4-BE49-F238E27FC236}">
                <a16:creationId xmlns:a16="http://schemas.microsoft.com/office/drawing/2014/main" id="{4357A961-AB9C-4B2E-90FB-4289DDD91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268" y="1217498"/>
            <a:ext cx="60102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30611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290</TotalTime>
  <Words>430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Corbel</vt:lpstr>
      <vt:lpstr>Wingdings</vt:lpstr>
      <vt:lpstr>Wingdings 2</vt:lpstr>
      <vt:lpstr>Frame</vt:lpstr>
      <vt:lpstr>Taller final </vt:lpstr>
      <vt:lpstr>¿Cómo funciona la empresa?</vt:lpstr>
      <vt:lpstr>organigrama</vt:lpstr>
      <vt:lpstr>Diagrama de la organización</vt:lpstr>
      <vt:lpstr>Diagrama de subsistemas</vt:lpstr>
      <vt:lpstr>Relación hombre- maquinas </vt:lpstr>
      <vt:lpstr>Características principales </vt:lpstr>
      <vt:lpstr>Bibliografía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final</dc:title>
  <dc:creator>oscar</dc:creator>
  <cp:lastModifiedBy>DIANA VALENTINA MORENO PEÑA</cp:lastModifiedBy>
  <cp:revision>16</cp:revision>
  <dcterms:created xsi:type="dcterms:W3CDTF">2021-04-27T14:17:27Z</dcterms:created>
  <dcterms:modified xsi:type="dcterms:W3CDTF">2021-05-04T02:23:24Z</dcterms:modified>
</cp:coreProperties>
</file>